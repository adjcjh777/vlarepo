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49808"/>
            <a:ext cx="10972800" cy="52578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FE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1155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全球模式识别公司案例研究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0976" y="179222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SenseTime、iFLYTEK、Cognex、SoundHound AI、Facephi 为例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0976" y="2468880"/>
            <a:ext cx="64008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课程：模式识别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 5 家“以模式识别为核心技术”的科技公司，系统分析其产品、技术亮点、创业团队、经营情况、发展前景，并给出个人启发。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交付：100 页左右课堂分享型 PPT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83880" y="1170432"/>
            <a:ext cx="2697480" cy="4315968"/>
          </a:xfrm>
          <a:prstGeom prst="roundRect">
            <a:avLst/>
          </a:prstGeom>
          <a:solidFill>
            <a:srgbClr val="F8F1E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研究框架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0" y="1847088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模式识别总论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五家公司纵向研究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横向比较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我的启发与结论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0" y="36576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8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资料口径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2026-03-29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优先采用官方公开资料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5541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汇报人：Junhao Cheng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生成方式：PptxGenJS 可编辑源码输出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资料来源：本页为封面；完整引用见第 100 页。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作业任务拆解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把“找 5 家公司 + 100 页 PPT”拆成一个可执行研究框架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这份作业真正考什么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我采用的完成方法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不仅要找公司，更要证明这些公司“为什么以模式识别为核心技术”。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不仅要介绍产品，还要解释技术亮点、团队能力、经营状态和未来前景之间的关系。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100 页不是堆页数，而是要求形成“纵向深入 + 横向比较 + 个人判断”的完整研究链。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所以这份 PPT 采用“10 页总论 + 5 家公司 x 16 页 + 10 页总结”的结构。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先定义什么是模式识别及其商业化价值。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再选 5 家不同模态、不同区域、不同商业模型的代表企业。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随后按统一维度展开：产品、技术、团队、经营、前景、启发。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最后做横向比较和个人总结，避免只做百科式介绍。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 = 让机器从复杂信号中识别结构、类别、异常与规律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经典理解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为什么今天还值得研究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输入可以是语音、图像、视频、文本、动作轨迹、行为数据，甚至工业传感器信号。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核心任务包括：分类、检测、匹配、分割、检索、异常发现和序列理解。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它既是传统机器学习的重要分支，也是深度学习和多模态 AI 的底层能力。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今天很多“大模型应用”本质上仍然依赖强大的模式识别能力。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因为模式识别决定了 AI 是否能“看懂、听懂、认准”。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越是高价值场景，越需要稳定、鲁棒、可规模化的识别能力。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生成式 AI 火了以后，模式识别没有过时，反而在多模态和 agent 里更重要。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很多公司真正的商业护城河，仍然来自他们对真实世界模式的长期积累。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模式识别的技术地图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从底层数据到最终商业价值，通常要经历四层跃迁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四层结构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课程汇报最该关注什么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数据层：采集、标注、清洗、治理和合规，是一切识别能力的起点。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模型层：特征提取、深度学习、序列建模、多模态融合与推理。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系统层：训练平台、部署框架、边缘设备、工作流编排和监控。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业务层：把识别结果嵌入质检、客服、驾驶、金融安全、教育评估等流程。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不是哪个公司“模型名字更大”，而是哪家公司把技术变成了真实、持续的价值。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真正成功的企业，都在做从“识别能力”到“工作流价值”的迁移。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所以本次案例选择故意覆盖不同模态和行业，看技术如何适应不同商业逻辑。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这也是后面横向比较的核心标准。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为什么现在是重新看模式识别公司的好时点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2026 年 3 月，行业已经从“单点识别”走向“识别 + 生成 + 决策”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四个趋势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因此我们需要看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趋势 1：生成式 AI 让识别企业重新获得二次增长机会，多模态成为重点。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趋势 2：企业更愿意为可落地的 workflow AI 付费，而不仅是基础模型能力。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趋势 3：安全、身份、汽车、工业等高门槛场景，仍然偏好专业模式识别公司。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趋势 4：平台化和生态化能力，正在取代单点算法精度成为新的竞争焦点。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哪家公司守住了原有识别优势。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哪家公司成功把识别能力平台化。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哪家公司进入了高价值工作流，形成稳定经营能力。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哪家公司具备继续跨周期增长的条件。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选取这 5 家公司的标准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不是简单挑名气最大，而是尽量覆盖模式识别商业化的关键类型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筛选标准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五类代表方向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模式识别必须是公司价值创造中的核心技术，而非边缘功能。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公司最好具有一定全球影响力或明确区域代表性。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需要能获得较完整的官方公开资料，便于分析产品、经营与前景。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五家公司之间要有差异，便于比较不同模式识别路线。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视觉与多模态平台：SenseTime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语音与行业 AI 平台：iFLYTEK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工业机器视觉：Cognex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语音交互与 AI agent：SoundHound AI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生物识别与数字身份：Facephi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五家公司一页看懂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同样是模式识别公司，它们的商业模式和护城河差异很大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566160" cy="13258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视觉起家，转向 AI 基础设施和大模型平台。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132588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语音识别龙头，靠行业渗透构建平台优势。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13258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46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把机器视觉做到工业基础设施，商业成熟度最高。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5440680" cy="150876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00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93592"/>
            <a:ext cx="5074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把语音识别升级成任务型 Voice AI agent。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50876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3009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5074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专注数字身份验证，是生物识别安全的专业选手。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72800" cy="1078992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21808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阅读建议：先把 5 家公司放在同一张地图中，再进入每家公司的 16 页模块，你会更容易看出技术路线和商业逻辑的差异。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资料来源：综合自各公司官方资料与本报告研究框架。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研究方法与资料来源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本报告优先使用公司官方公开资料，辅以投资者材料和产品说明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分析维度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年度报告、10-K、审计财报、投资者演示材料。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公司官网产品页、管理层介绍、新闻稿与业务案例。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用于佐证的公开搜索结果与行业简报。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所有信息以 2026 年 3 月 29 日之前能查到的公开资料为准。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公司画像：定位、模态、产品与客户。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技术画像：识别链路、系统能力、关键亮点。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经营画像：收入结构、增长质量、商业化路径。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判断画像：前景、风险与我自己的启发。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横向比较会重点看什么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为了避免五个案例变成五篇平行公司介绍，我先给出比较坐标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比较坐标 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比较坐标 B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技术起点：视觉、语音、工业视觉、生物识别。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产品化深度：API、平台、系统、行业工作流。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商业模式：项目制、平台订阅、硬件销售、长期合同、生态变现。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组织特性：学术驱动、工程驱动、行业深耕、平台扩张。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经营质量：收入增长、现金流、客户粘性和可见收入。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护城河来源：数据、部署、硬件、合规、渠道、生态。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风险类型：重投入、行业周期、并购整合、监管与合规。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长期前景：能否从“识别”走向“工作流价值”。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阅读这份 PPT 的建议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页内容较长，建议按“总论 -&gt; 单家公司 -&gt; 对比总结”来理解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如果你时间有限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如果你要做课堂分享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先看第 1-10 页，把模式识别和五家公司放到同一张地图上。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每家公司重点看：公司封面页、经营页、风险页、我的启发页。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最后看第 91-100 页的横向比较和结论。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可以把每家公司压缩讲 2-3 分钟，突出“模式识别如何创造价值”。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不要平均用力，建议多强调商汤、讯飞和 Cognex 的对比。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横向比较部分最能体现你不是“搜资料”，而是在“做判断”。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最后用个人启发收束，会比单纯念数据更有说服力。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资料来源：综合自各公司官方公开资料与本报告研究框架。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65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从计算机视觉龙头转向“AI 基础设施 + 大模型 + 智能汽车”一体化平台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总部/重心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香港上市，上海/香港双核心布局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计算机视觉、多模态理解、生成式 AI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基础设施与行业落地平台型公司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商汤最早的品牌建立在“高精度视觉识别”上，人脸、图像、视频理解是其原点。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公司已把模式识别能力扩展成“感知 + 生成 + 推理”体系，说明传统识别企业如何升级。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其商业结构从项目型视觉业务逐步迁移到通用 AI 基础设施，更适合课堂讨论“技术变现路径”。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对中国 AI 企业而言，商汤的案例代表了从 CV 独角兽向大模型平台的战略转身。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商汤最早的品牌建立在“高精度视觉识别”上，人脸、图像、视频理解是其原点。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公司已把模式识别能力扩展成“感知 + 生成 + 推理”体系，说明传统识别企业如何升级。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其商业结构从项目型视觉业务逐步迁移到通用 AI 基础设施，更适合课堂讨论“技术变现路径”。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对中国 AI 企业而言，商汤的案例代表了从 CV 独角兽向大模型平台的战略转身。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以算力、训练、推理和模型服务为核心的 AI 基础设施，支撑内部研发与外部企业客户。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 / SenseNova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面向企业与行业场景的大模型能力层，把语言、视觉和多模态能力商品化。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Auto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聚焦智能座舱与智能驾驶，把视觉感知迁移到车端场景。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行业视觉方案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面向城市、金融、零售、工业等行业的检测、分析与自动化决策。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商汤科技：焦点产品 A：SenseCore + 日日新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关键逻辑不是只卖“模型”，而是把模型训练、部署、推理和企业接入做成平台服务。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SenseCore 的价值在于把模式识别企业最贵的资源变成可复用基础设施，降低迭代成本。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日日新则承接企业侧需求，把底层的视觉/多模态能力做成应用接口和解决方案。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这意味着商汤在商业上正从“项目交付”切换到“平台订阅 + 行业解决方案”。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金融风控与客服智能化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企业知识问答与办公智能体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多模态文档与图像理解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商汤科技：焦点产品 B：Smart Auto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智能汽车业务延续了商汤在视觉感知、场景理解和实时识别方面的核心积累。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商业重心从早期 V2X 逐步转向智能座舱与端到端智驾，更符合车厂当前采购逻辑。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相比通用互联网应用，汽车场景更强调低延迟、可解释性和安全冗余。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这类场景说明模式识别技术只有嵌入高价值工作流，才会形成长期收入。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舱内视觉感知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驾驶状态监测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车端多模态交互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大规模视觉、多模态与行业场景数据，为模型训练和行业迁移提供燃料。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 负责算力调度、训练加速、推理服务与资源复用。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从传统 CV 模型延伸到大语言模型、多模态模型与行业专用模型。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金融、政企、智能汽车、企业服务等场景承接商业化。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传统视觉识别资产没有被淘汰，而是被“升维”到多模态与生成式 AI 时代。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“基础设施 + 模型 + 行业”三层联动，让研发投入更容易在多个场景复用。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年生成式 AI 收入已经成为最大收入来源，说明技术方向切换开始兑现。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商汤的启示是：模式识别企业不能只做算法精度竞争，还要做平台能力整合。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多年累积的视觉和行业数据，仍然是构建大模型应用的重要底座。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SenseCore 形成算力与部署门槛，使其不只是“模型调用商”。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中国本土政企/车企客户的部署需求，要求更强本地化和工程交付能力。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品牌、人才与学术影响力使其更容易吸引企业客户与生态合作伙伴。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汤晓鸥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联合创始人、学术旗帜人物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把计算机视觉研究能力转化成公司最早的技术品牌。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联合创始人、董事长兼 CEO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主导公司商业化转型与“AI 基础设施 + 大模型”路线。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王晓刚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强化视觉识别与深度学习研究积累。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推动产品化与组织扩张，是创业团队的重要经营角色。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C65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2014：公司成立，以计算机视觉为核心切入市场。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2021：在香港上市，成为中国 AI 独角兽的代表性样本。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2023：明确转向生成式 AI 与大模型布局。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2024：生成式 AI 收入超过传统视觉，成为第一大收入来源。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2025-2026：持续强化 SenseCore，并加快大模型与车端业务结合。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商业模式从单点项目交付，逐步转向“平台服务 + 行业方案 + 车企合作”。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客户类型包括金融、政企、制造、互联网企业以及汽车厂商。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组织能力很工程化，不只是研究导向，而是强调部署、交付和本地化适配。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收入结构变化说明：模式识别技术能否持续变现，关键在于是否进入高频场景。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673941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3405.8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3772.1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生成式 AI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2593269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计算机视觉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1199441" cy="15544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1111.9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37.72 亿元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+10.8%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占比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63.7%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年总收入 37.72 亿元，同比增长 10.8%。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生成式 AI 收入 24.04 亿元，同比增长 103.1%，已经成为第一大收入来源。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传统计算机视觉收入下降，说明公司主动把资源向新业务倾斜。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这是一种典型的“旧识别业务供血，新平台业务接棒”的战略过渡。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如果企业级大模型和私有化部署持续增长，SenseCore 会更像“卖铲子”的平台型业务。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智能汽车若能进入更大规模量产，将为商汤提供更稳定的长周期客户。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多模态场景的落地会让其传统视觉积累重新估值，而不是被通用 LLM 稀释。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未来关键问题不是“有没有模型”，而是“能否高质量、低成本、规模化交付”。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与更轻量、价格更低的开源模型和本土大模型平台竞争激烈。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基础设施重投入导致盈利改善速度可能慢于收入增长。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传统项目制业务回落过快，可能给新业务承接带来阶段性压力。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市场会持续追问：平台化收入是否足够稳健，是否能摆脱一次性交付依赖。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SenseTime 商汤科技：我的启发与小结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我最大的感受是：商汤不是“离开模式识别”，而是把模式识别升级成大模型时代的底层资产。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它提醒我们，识别技术本身容易同质化，但“识别 + 算力 + 行业流程”更容易形成壁垒。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如果只讲精度，商汤会越来越难；如果讲平台与部署效率，故事就重新成立了。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因此，模式识别企业的第二曲线，往往来自基础设施化和场景系统化。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资料来源：来源：SenseTime 2024 Annual Report（HKEX, 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65D2E"/>
          </a:solidFill>
          <a:ln w="12700">
            <a:solidFill>
              <a:srgbClr val="C65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从语音识别龙头扩展到“语音 + 认知 + 行业大模型”的中国 AI 平台公司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安徽合肥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语音识别、语音合成、语义理解、多模态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AI 平台 + 开放生态 + 消费产品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讯飞是中国最典型的“从模式识别起家并持续商业化”的公司，研究基础非常深厚。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其最早护城河是中文语音识别与评测，后来逐步拓展到文本、图像与多模态。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相比很多只停留在算法层的企业，讯飞把技术嵌入教育、医疗、办公、车载等高价值场景。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它非常适合作为“模式识别如何变成行业操作系统”的案例。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讯飞是中国最典型的“从模式识别起家并持续商业化”的公司，研究基础非常深厚。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其最早护城河是中文语音识别与评测，后来逐步拓展到文本、图像与多模态。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相比很多只停留在算法层的企业，讯飞把技术嵌入教育、医疗、办公、车载等高价值场景。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它非常适合作为“模式识别如何变成行业操作系统”的案例。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讯飞星火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以认知大模型为核心，承接文本、语音、图像、多模态能力。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向开发者输出语音识别、语音合成、OCR、翻译等 API 与 SDK。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智慧教育/智慧医疗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把识别与认知能力嵌入教育和医疗工作流。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消费级产品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录音笔、办公本、翻译机等产品把算法能力转成可见终端。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iFLYTEK：焦点产品 A：讯飞星火 + 开放平台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星火的意义不是追求“通用大模型第一名”，而是用讯飞原有语音优势切进行业场景。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开放平台让讯飞能够持续吸引开发者，并把单点识别技术沉淀成标准化能力。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这套组合特别适合中文场景，因为语音、方言、教育与政企场景对本地化要求高。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对讯飞来说，大模型不是替代原有模式识别，而是把它们统一到更强的交互框架。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语音会议纪要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行业知识问答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开发者 API 接入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iFLYTEK：焦点产品 B：智慧教育与智慧医疗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讯飞真正难复制的地方，在于它掌握了教育和医疗这类高门槛、高流程依赖场景。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在教育中，语音评测、作文批改、个性化学习建议构成了完整价值链。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在医疗中，语音录入、病历结构化与辅助诊断让识别能力直接进入医生流程。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这说明模式识别企业要建立深护城河，不能只卖工具，而要卖“完成任务的系统”。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口语评测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课堂与作业分析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医疗录入与辅助诊断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语音识别、语音合成、图像识别、翻译等基础感知能力。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星火大模型承接推理、问答、生成与多模态理解。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开放平台、开发者工具链、国产算力与训练体系。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教育、医疗、汽车、企业服务、城市治理与消费电子。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公司把语音识别从单点技术扩展为全栈 AI 能力树，这是长期积累的结果。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拥有国家级实验室和工程中心，学术与产业化结合度高。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年开发者规模达到 224 万，说明平台生态已经形成网络效应。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讯飞的核心优势不只是模型，而是中文场景与行业 know-how 的叠加。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中文语音与行业数据积累非常深，尤其适合教育、医疗、政企等长尾场景。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开放平台形成开发者生态，帮助公司不断吸收新需求并标准化输出能力。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国产化训练体系和本地部署能力，对中国市场特别重要。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软硬件结合与行业合作网络，使其商业化不依赖单一产品。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刘庆峰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创始人、董事长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代表公司最核心的技术愿景与长期战略，是中国语音 AI 的标志人物。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吴晓如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推动工程落地和组织管理，使研究成果进入大规模行业应用。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核心技术带头人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长期负责语音与认知智能研究，是讯飞技术路线的重要设计者。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中科大科研背景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创业起点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学术起点决定了讯飞早期就以“底层技术自研”作为公司基因。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246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1999：公司成立，语音识别与语音合成为核心方向。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2008：上市，成为中国 AI 产业化代表公司。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2010s：教育、医疗、车载和开放平台形成多条商业化曲线。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2023：发布讯飞星火，进入大模型竞争。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2024：继续加大大模型研发投入，并强化行业落地节奏。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收入来源分散，包括行业解决方案、开放平台、消费产品与企业服务。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相比纯模型公司，讯飞更像“行业 AI 操作系统”提供商。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在中国市场，它的商业化优势往往来自“场景深度”而不是“参数规模”。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其营收结构说明：模式识别技术只要嵌入实际工作流，就能形成稳定现金流。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280665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18820.2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3425365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19650.3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23343.1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经营现金流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34954" cy="15544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2495.2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233.43 亿元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+18.79%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归母净利润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5.60 亿元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开发者规模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 万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年营业收入 233.43 亿元，同比增长 18.79%。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归母净利润 5.60 亿元，同比下降，核心原因之一是继续加码大模型和核心研发。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经营活动现金流达到 24.95 亿元，说明其业务现金回笼能力在改善。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这类财务结构很典型：平台型 AI 公司经常在利润与战略投入之间取平衡。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如果中国教育、医疗、政企市场继续推动国产 AI 替代，讯飞会持续受益。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星火若能把语音优势和行业数据整合好，竞争方式会与通用 LLM 不同。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开放平台仍然是长期增长杠杆，因为它决定了开发者生态和外部创新速度。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未来最值得观察的是：大模型是否能真正拉动高毛利平台收入，而不仅是研发成本。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大模型持续高投入，短期可能压制利润表现。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应收账款与减值压力仍是投资者关注焦点。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通用大模型开源生态可能冲击部分通用能力收费。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6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组织庞大后，如何保持技术敏捷性，是平台型公司常见挑战。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 iFLYTEK：我的启发与小结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讯飞让我看到：模式识别企业最强的壁垒，往往不是算法论文，而是场景渗透率。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它通过教育和医疗这两个高门槛场景，把语音能力变成了长期可收费的系统。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所以我认为讯飞的真正竞争对手不是单一语音公司，而是任何想进入这些工作流的平台。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对于课程作业而言，讯飞是“模式识别商业化最完整”的中国样本之一。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资料来源：来源：iFLYTEK 2024 Annual Report（2025）及公司官网公开资料。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463A8"/>
          </a:solidFill>
          <a:ln w="12700">
            <a:solidFill>
              <a:srgbClr val="24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F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把机器视觉做成工业基础设施，是模式识别在制造业最成熟的商业化样本之一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1981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美国马萨诸塞州 Natick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工业机器视觉、缺陷检测、读码识别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工业自动化视觉基础设施提供商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很有代表性，因为它证明了模式识别不只属于互联网，也能成为制造业的硬科技基础设施。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与消费 AI 不同，工业视觉的价值来自减少误检、停线和返工，因此客户愿意为稳定性付费。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它把视觉识别与硬件、光学、软件和工程服务结合，形成很强的进入门槛。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这家公司非常适合说明“高精度模式识别在 B 端的长期商业价值”。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很有代表性，因为它证明了模式识别不只属于互联网，也能成为制造业的硬科技基础设施。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与消费 AI 不同，工业视觉的价值来自减少误检、停线和返工，因此客户愿意为稳定性付费。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它把视觉识别与硬件、光学、软件和工程服务结合，形成很强的进入门槛。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这家公司非常适合说明“高精度模式识别在 B 端的长期商业价值”。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In-Sight Vision Systems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固定式机器视觉系统，用于定位、检测、测量和识别。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DataMan Barcode Readers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面向制造和物流的工业读码与追踪系统。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VisionPro / 软件平台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让客户基于视觉算法构建更复杂的自动化检测流程。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传感器与 3D 视觉方案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覆盖更复杂的表面缺陷、装配校验与机器人引导场景。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Cognex：焦点产品 A：In-Sight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In-Sight 是 Cognex 最经典的产品线，本质上是把模式识别算法封装成工业现场可直接部署的视觉系统。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它不是简单摄像头，而是“采集 + 光学 + 算法 + 控制接口”的一体化方案。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客户真正购买的不是模型，而是稳定的良率和更低的误停机率。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这说明工业场景中，模式识别的价值往往通过 ROI 而不是概念传播。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零部件检测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定位与测量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机器人引导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Cognex：焦点产品 B：DataMan 与软件生态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DataMan 把条码/二维码识别做到了高速度、低误读率和恶劣环境适应性。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在物流和电子制造中，追踪能力直接影响产线节拍与质量追责能力。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软件平台则让 Cognex 能够从硬件收入延伸到更高附加值的系统级解决方案。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机器视觉公司一旦形成安装基础，就会拥有很强的复购和升级机会。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物流分拣读码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电子制造追溯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软件升级与再部署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工业相机、光源、镜头与环境适应性设计。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定位、匹配、检测、OCR/OCV、读码与缺陷识别。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PLC、机器人、产线系统联动，实现实时决策。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以开发工具和应用软件提升客户定制能力与复购率。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工业视觉要求极高稳定性，因此算法与硬件一体化能力比单纯模型更关键。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 把深度学习与传统规则视觉结合，兼顾可解释性和复杂场景适应性。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30,000 家客户意味着其产品经过了大量工业环境验证。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在工业场景里，模式识别技术的护城河来自可靠性、部署经验和售后支持。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深厚的工业应用工程经验，使其很难被通用 AI 厂商快速替代。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硬件 + 软件 + 系统集成形成复合型壁垒，而不是单一算法优势。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长期安装基础与渠道网络带来高复购率和高信任成本。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品牌在高端机器视觉市场具有先发优势，客户更重视“不会出错”。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 J. Shillman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把机器视觉从实验室概念推向可规模化的工业产品。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Marilyn Matz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与技术团队共同奠定了早期产品和公司文化。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现任管理层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职业化经营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在成熟产业中，稳定运营与资本配置同样重要。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应用工程团队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隐形核心资产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工业公司真正的护城河之一，是懂客户现场问题的人。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2F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1981：公司成立，聚焦机器视觉。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1990s：成为工业视觉领域的重要品牌。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2000s：读码、检测与软件平台持续扩张。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2020s：把深度学习视觉能力整合到既有工业视觉体系中。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235440" y="3127248"/>
            <a:ext cx="164592" cy="164592"/>
          </a:xfrm>
          <a:prstGeom prst="ellipse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2024：收入回升，显示在电子与物流场景中的需求韧性。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客户主要来自电子、汽车、物流、消费品、医疗器械等制造与流通行业。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商业模式偏 B2B 长周期，强调设备采购、集成、升级和售后。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的价值主张非常直接：更高良率、更低误判、更快节拍。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这类公司说明，模式识别一旦嵌入 CAPEX 体系，生命周期会比互联网产品更长。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3405820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3723208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现金与投资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客户数（千）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122072" cy="15544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9.15 亿美元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现金与投资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10 亿美元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客户规模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30,000+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年净销售额约 9.15 亿美元，同比增长约 9%。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公司账上现金和投资超过 10 亿美元，且无债务，财务质量非常稳健。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业务仍受制造业资本开支周期影响，但在高端视觉市场竞争力稳定。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这表明工业模式识别可以成为高现金流、高毛利、长寿命的业务形态。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新能源汽车、电池、半导体、仓储自动化都会持续需要高精度视觉识别。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 AI 的真正空间在于“把更多复杂质检任务自动化”。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若将深度学习视觉更深入地产品化，Cognex 仍有机会提升单客户价值。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未来成长速度未必像互联网 AI 那么快，但确定性通常更强。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制造业和电子行业景气度波动会直接影响订单节奏。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客户对资本开支谨慎时，视觉设备采购容易延后。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低价智能相机和区域性竞争者可能带来价格压力。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成熟工业公司若创新节奏过慢，也可能错过新一代 AI 机会。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Cognex：我的启发与小结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 让我意识到：模式识别最赚钱的地方，往往不是“最炫”，而是“最不能错”。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工业视觉的商业逻辑非常朴素，只要客户算得过 ROI，就会持续买单。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它也提醒我们，企业级识别技术的关键不是 demo 漂亮，而是系统可靠、维护方便、能长期运行。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如果把模式识别看成基础设施，Cognex 是非常经典的成功样本。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资料来源：来源：Cognex investor relations、公司官网与公开财务资料。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2F6A4F"/>
          </a:solidFill>
          <a:ln w="12700">
            <a:solidFill>
              <a:srgbClr val="2F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A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把语音识别升级为“能完成业务流程的 Voice AI Agent”，是语音模式识别的新阶段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2005 年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美国加州 Santa Clara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语音识别、语义理解、会话智能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面向汽车、餐饮与客服场景的语音 AI 平台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很适合展示模式识别技术从“识别命令”走向“完成任务”的路径。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它的核心不只是 ASR，而是把语音、语义、知识图谱和工作流编排组合起来。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相比通用助手，SoundHound 强调白标、品牌控制和行业场景定制，这是一条差异化路线。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因此它体现了模式识别企业如何在大模型时代重构自己的商业叙事。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很适合展示模式识别技术从“识别命令”走向“完成任务”的路径。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它的核心不只是 ASR，而是把语音、语义、知识图谱和工作流编排组合起来。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相比通用助手，SoundHound 强调白标、品牌控制和行业场景定制，这是一条差异化路线。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因此它体现了模式识别企业如何在大模型时代重构自己的商业叙事。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Houndify / Voice AI Platform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向企业输出语音识别和会话理解能力。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AI Automotive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服务车载场景的语音与多轮对话系统。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Ordering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面向餐饮行业的语音点单与订单自动化。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Amelia / 企业 AI Agent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把语音和客服流程、知识库与自动化接起来。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AI：焦点产品 A：餐饮语音代理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餐饮场景看似简单，但真正困难的是高并发、多变口音、菜单变动与订单确认。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SoundHound 把语音识别做成“能接电话、能下单、能改单、能 upsell”的业务代理。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这比单纯识别一句话更难，也更接近真实商业价值。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收购 SYNQ3 后，公司的餐饮语音业务更完整，形成了比较强的场景护城河。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电话点单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门店客服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订单修改与推荐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AI：焦点产品 B：汽车与设备端对话系统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汽车场景是 SoundHound 的传统强项，强调安全、免手操作和品牌定制。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相比通用手机助手，车厂更在意数据控制权与品牌体验，因此白标能力很重要。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 IoT 与设备端，语音是没有键盘/触屏时最自然的交互方式。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这类场景说明：模式识别企业只要进入产品操作入口，就有机会获得长期收入。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车载助手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智能家居设备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品牌化语音入口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语音识别与声音处理，把连续语音实时转成结构化输入。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NLU、知识图谱与复杂查询理解，支持多跳与约束条件。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把模型输出和菜单、订单、客服流程、企业知识库接通。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白标部署、品牌控制、多行业模板与 API 接入。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公司强调“speech-to-meaning”，而不是只做转写，这一点非常关键。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创始团队从 2005 年就在做声音识别和语音 AI，积累时间足够长。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通过白标和品牌控制，避免与客户在流量入口上形成直接冲突。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在大模型时代，它把 LLM 当成增强层，而不是把自己完全重做成通用模型公司。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长年积累的语音与意图理解技术，使其在复杂查询和任务型对话上有差异化。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汽车与餐饮都属于高价值垂直场景，迁移成本高，客户不会频繁更换供应商。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白标模式契合企业客户需求，因为客户希望保留品牌与数据控制权。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收购 Amelia 与 SYNQ3 后，客户触点更广，但也要求更强整合能力。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Keyvan Mohajer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联合创始人、CEO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从一开始就强调“Add Voice AI to everything”的愿景。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Andreas Wendel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参与技术路线和系统工程建设。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Majid Emami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联合创始人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与核心团队共同推动早期算法与平台化能力发展。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原始创始团队持续在位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组织特征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这使公司在长期愿景上保持一致性，但也意味着执行挑战更集中。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A548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2005：创始团队在斯坦福毕业后创立公司。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2009：推出音乐识别应用，累计下载量超过 3 亿次。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2022：通过 SPAC 上市，获得更大资本市场关注。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2024：完成 Amelia 与 SYNQ3 收购，业务从语音平台走向 AI agent。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收入来源包括 royalty、subscription 和 monetization 三类。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客户横跨汽车、IoT、App、餐饮与客服行业。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产品不是单一 API，而是逐步升级为“行业代理 + 工作流自动化”。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这使公司更像垂直 voice AI 平台，而非单纯的语音识别工具商。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收入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622569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45.9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1148837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毛利润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561533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下载（百万）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收入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8469 万美元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音乐识别 App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亿+ 下载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年总收入 8469 万美元，同比增幅 85%。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服务订阅收入显著增长，收购带来了规模提升，但也压低了毛利率。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2024 年毛利率为 49%，低于 2023 年的 75%，说明整合期结构发生变化。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这是成长型 AI 公司常见现象：规模先扩张，效率改善往往稍后体现。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语音 AI agent 在客服、餐饮和汽车中仍有较大扩展空间。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如果公司能把收购资产整合成统一产品层，商业故事会更完整。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语音是最自然的交互方式之一，在无屏或弱屏设备里长期重要。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未来最关键的是从“会说话”升级到“真正替用户办事”。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并购整合复杂，短期内可能拖累毛利率和组织效率。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与大厂语音助手和通用大模型平台存在竞争压力。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汽车客户集中度和长销售周期会使业绩波动较大。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4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 AI 的效果高度依赖真实业务数据和流程接入，落地难度并不低。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SoundHound AI：我的启发与小结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SoundHound 最打动我的地方，是它把模式识别从“识别输入”推进到“完成任务”。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在大模型出现后，语音识别没有失去价值，反而因为交互自然度变得更重要。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但只有把语音和业务流程绑定起来，它才会变成真正可收费的能力。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我认为这家公司代表了语音模式识别的下一阶段：从工具走向 agent。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资料来源：来源：SoundHound AI 2024 Form 10-K 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A54833"/>
          </a:solidFill>
          <a:ln w="12700">
            <a:solidFill>
              <a:srgbClr val="A548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7B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331720"/>
            <a:ext cx="63550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专注数字身份验证与生物识别，把“识别你是谁”做成跨行业安全基础设施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66760" y="1353312"/>
            <a:ext cx="2423160" cy="1828800"/>
          </a:xfrm>
          <a:prstGeom prst="roundRect">
            <a:avLst/>
          </a:prstGeom>
          <a:solidFill>
            <a:srgbClr val="FDF7F2"/>
          </a:solidFill>
          <a:ln w="12700">
            <a:solidFill>
              <a:srgbClr val="F9E7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本模块结构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901952"/>
            <a:ext cx="1737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团队与里程碑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经营与前景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我的启发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630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7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这一部分的目的，不是列百科，而是回答一个问题：这家公司究竟如何把模式识别变成长期价值？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018520" y="6428232"/>
            <a:ext cx="530352" cy="201168"/>
          </a:xfrm>
          <a:prstGeom prst="roundRect">
            <a:avLst/>
          </a:prstGeom>
          <a:solidFill>
            <a:srgbClr val="FBE7D7"/>
          </a:solidFill>
          <a:ln w="12700">
            <a:solidFill>
              <a:srgbClr val="FBE7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Facephi：公司画像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先看基本面，再理解它为什么被选入本次案例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79476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81328"/>
            <a:ext cx="711403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成立时间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2311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2012 年左右，已有 12+ 年投入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0723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西班牙 Alicante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41248" y="37124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模式识别主轴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913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人脸/多生物特征识别、活体检测、行为生物识别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1248" y="45537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当前定位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数字身份验证与反欺诈平台公司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为什么它值得放进模式识别作业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640080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的价值在于，它展示了模式识别如何在身份验证和金融合规中创造真实商业价值。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相比做通用人脸识别，公司更专注于 KYC、AML、远程开户、反欺诈等强约束场景。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这些场景对识别精度、抗攻击性和法规适配要求极高，因此更容易形成专业壁垒。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它也是欧洲语境下一个很有代表性的“隐形冠军”案例。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Facephi：为什么说它的核心技术就是模式识别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这一页的任务是把“公司业务”与“模式识别”严密地连接起来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技术逻辑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商业逻辑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的价值在于，它展示了模式识别如何在身份验证和金融合规中创造真实商业价值。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相比做通用人脸识别，公司更专注于 KYC、AML、远程开户、反欺诈等强约束场景。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这些场景对识别精度、抗攻击性和法规适配要求极高，因此更容易形成专业壁垒。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它也是欧洲语境下一个很有代表性的“隐形冠军”案例。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Facephi：产品版图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看它卖什么，能快速理解这家公司的商业重心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 Identity Platform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统一编排身份验证、认证、合规与多种生物识别能力。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1051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Behavioral Biometrics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73368" y="212140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通过操作行为、设备行为与交互习惯辅助识别异常与欺诈。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349240" cy="187452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IDV Suite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面向身份核验的完整套件，整合文档识别、人脸采集和活体检测。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49240" cy="1874520"/>
          </a:xfrm>
          <a:prstGeom prst="roundRect">
            <a:avLst/>
          </a:prstGeom>
          <a:solidFill>
            <a:srgbClr val="FBF8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13632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Teseo Identity Wallet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73368" y="4224528"/>
            <a:ext cx="49469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面向数字身份证明与可验证凭证的新型身份载体。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Facephi：焦点产品 A：Identity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平台型设计意味着 Facephi 不只是卖单一算法，而是卖“身份流程编排能力”。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这对银行、保险、旅游和政府客户很重要，因为他们面对的法规与国家差异很大。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产品强调模块化，客户可以自由组合人脸、眶周、证件识别和活体检测。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这类平台化思路使其更容易从单点产品走向长期合同与 ARR。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远程开户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身份核验与认证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跨行业合规流程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Facephi：焦点产品 B：Behavioral Biometrics + Liveness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把“代表性产品”拆开看，最容易看清技术与商业逻辑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75438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481328"/>
            <a:ext cx="3410712" cy="466344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93392"/>
            <a:ext cx="69037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在身份安全里，“能识别人”还不够，还要识别是不是活人、是不是被冒用、是不是异常行为。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行为生物识别帮助系统识别 mule account、异常操作与可疑交互轨迹。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活体检测和 PAD 能力直接关系到反欺诈效果，是 Facephi 技术含金量最高的部分之一。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这表明现代模式识别已经从静态识别发展到动态风险感知。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85632" y="1682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典型落地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30768" y="2029968"/>
            <a:ext cx="267004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反伪造与反攻击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账户异常识别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高风险场景多因子校验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30768" y="3913632"/>
            <a:ext cx="2103120" cy="1051560"/>
          </a:xfrm>
          <a:prstGeom prst="roundRect">
            <a:avLst/>
          </a:prstGeom>
          <a:solidFill>
            <a:srgbClr val="F8F2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41330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一句话评价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77072" y="4370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该产品体现了公司如何把模式识别嵌入高价值流程。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Facephi：技术栈拆解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把底层数据、算法、系统和应用放在一张图里理解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70078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6537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4708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采集面部、证件、设备与行为轨迹信息。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275234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88036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1693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89864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比对、匹配、眶周识别、OCR、行为特征建模。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3803904"/>
            <a:ext cx="10241280" cy="822960"/>
          </a:xfrm>
          <a:prstGeom prst="roundRect">
            <a:avLst/>
          </a:prstGeom>
          <a:solidFill>
            <a:srgbClr val="FFF9F5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93192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9684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95020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活体检测、PAD、异常行为检测、风险评分。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4855464"/>
            <a:ext cx="10241280" cy="82296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83480"/>
            <a:ext cx="1325880" cy="256032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50200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50017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面向不同国家/行业的 KYC、AML、隐私与审计要求。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0120" y="5961888"/>
            <a:ext cx="10241280" cy="310896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603504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技术判断：真正重要的不是某一个模型名字，而是公司是否能把底层识别能力稳定地穿透到最终应用层。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Facephi：技术亮点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回答一个问题：这家公司真正“强”在哪里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084832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 的技术重点不是“识别人脸”本身，而是“在安全与合规前提下完成可信身份验证”。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7922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36792" y="2084832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公司在 PAD、活体检测和多生物特征组合上投入较深。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85800" y="3675888"/>
            <a:ext cx="5440680" cy="178308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4114800"/>
            <a:ext cx="51114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 Platform 的模块化结构，说明其路线已经从产品走向平台。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49240" cy="1783080"/>
          </a:xfrm>
          <a:prstGeom prst="roundRect">
            <a:avLst/>
          </a:prstGeom>
          <a:solidFill>
            <a:srgbClr val="FCF7F0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38221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36792" y="4114800"/>
            <a:ext cx="502005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对于模式识别企业来说，安全场景是更能长期收费的垂直赛道。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Facephi：数据飞轮与护城河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模式识别公司为什么能持续跑出来，关键看壁垒是什么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109960" cy="4160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9966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进入银行与身份认证流程后，客户替换成本很高。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合规与标准化能力使其更适合跨国家、跨行业复制。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2024 年已覆盖 25+ 国家、350+ 客户、95%+ 留存率，说明业务粘性很强。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300M+ 交易量意味着其算法不是实验室方案，而是被真实世界反复使用。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77824" y="5870448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核心判断：壁垒来自“技术 + 系统 + 客户嵌入”，不是只来自模型精度。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Facephi：创业团队与组织特征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团队画像经常决定一家公司是“研究型”还是“产品型”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Javier Mira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 / 创业核心代表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长期围绕数字身份和生物识别推动产品与全球化扩张。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创业团队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5888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早期定位清晰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75888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从一开始就聚焦身份验证而不是通用视觉，战略很聚焦。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2606040" cy="434340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国际化子公司体系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组织特征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APAC、EMEA、LATAM 建立本地触点，是扩张关键。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98864" y="1691640"/>
            <a:ext cx="2606040" cy="43434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合作伙伴网络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1744" y="2267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增长杠杆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81744" y="2615184"/>
            <a:ext cx="21488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在身份产业中，渠道和标准合作的重要性不亚于算法。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Facephi：关键里程碑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通过时间线看战略方向是如何变化的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10241280" cy="0"/>
          </a:xfrm>
          <a:prstGeom prst="line">
            <a:avLst/>
          </a:prstGeom>
          <a:noFill/>
          <a:ln w="12700">
            <a:solidFill>
              <a:srgbClr val="0F7B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2010s 初：公司创立，进入数字身份与金融安全市场。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30632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随后几年：在银行业建立领先位置，并扩展到保险、旅游和政务。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737360" cy="114300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65960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2024：推出 Behavioral Biometrics、Mule Account Detection 与 IDV Suite。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178040" y="3127248"/>
            <a:ext cx="164592" cy="164592"/>
          </a:xfrm>
          <a:prstGeom prst="ellipse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3675888"/>
            <a:ext cx="1737360" cy="1143000"/>
          </a:xfrm>
          <a:prstGeom prst="roundRect">
            <a:avLst/>
          </a:prstGeom>
          <a:solidFill>
            <a:srgbClr val="FBF7F2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858768"/>
            <a:ext cx="1444752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2025：继续扩展 APAC、EMEA、LATAM 和北美合作网络。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Facephi：商业模式与客户结构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模式识别的商业价值，最终看客户愿意为什么买单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54480"/>
            <a:ext cx="5468112" cy="3154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475488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客户主要来自银行、金融服务、保险、旅游、公共服务与数字平台。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商业模式包含 лицензирование、持续服务、平台合同与长期 ARR。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55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客户/场景结构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45720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强监管行业天然提高了进入门槛，也提升了客户粘性。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Facephi 的收入质量比很多纯项目型 AI 公司更好，因为续费与长期合同占比更高。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983480"/>
            <a:ext cx="10469880" cy="713232"/>
          </a:xfrm>
          <a:prstGeom prst="roundRect">
            <a:avLst/>
          </a:prstGeom>
          <a:solidFill>
            <a:srgbClr val="F7EFE6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21208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商业化判断：模式识别一旦从“功能”升级为“流程入口”，收入稳定性和客户粘性都会明显提升。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Facephi：经营与财务观察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不同币种与口径不可直接横比，但可以看增长、结构与经营质量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58368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72768"/>
            <a:ext cx="4325112" cy="45262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73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关键指标示意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Turnover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2212848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212848"/>
            <a:ext cx="1767023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57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35224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Turnover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2971800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971800"/>
            <a:ext cx="2034540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16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ARR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0" y="3730752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730752"/>
            <a:ext cx="1971181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6758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531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TCV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EEE7DE"/>
          </a:solidFill>
          <a:ln w="12700">
            <a:solidFill>
              <a:srgbClr val="EEE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489704"/>
            <a:ext cx="4069080" cy="15544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3484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57.8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38528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Turnover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2890 万欧元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55480" y="1938528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1031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01784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+14.8%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49040"/>
            <a:ext cx="1783080" cy="1417320"/>
          </a:xfrm>
          <a:prstGeom prst="roundRect">
            <a:avLst/>
          </a:prstGeom>
          <a:solidFill>
            <a:srgbClr val="FFF9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010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ARR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010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 万欧元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555480" y="3749040"/>
            <a:ext cx="1783080" cy="1417320"/>
          </a:xfrm>
          <a:prstGeom prst="roundRect">
            <a:avLst/>
          </a:prstGeom>
          <a:solidFill>
            <a:srgbClr val="F9F4E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客户留存率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01784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4380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读数解释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6368" y="5559552"/>
            <a:ext cx="3584448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2024 年营收（turnover）达到 2890 万欧元，同比增长 14.8%。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TCV 57.8 百万欧元，ARR 28.0 百万欧元，说明未来可见收入在增强。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公司覆盖 25+ 国家、350+ 客户，累计处理超过 3 亿笔交易。</a:t>
            </a:r>
            <a:endParaRPr lang="en-US" sz="9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相较很多 AI 公司，Facephi 的增长更稳，不靠讲大故事，而靠身份验证场景深耕。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Facephi：发展前景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前景不是看热度，而是看趋势、位置和商业承接能力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97280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38528"/>
            <a:ext cx="10012680" cy="297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数字身份、远程开户、反欺诈和数字凭证仍是长期增长赛道。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行为生物识别和身份钱包有望成为公司新的增长点。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欧洲与跨境合规趋势会继续抬升“可信身份基础设施”的价值。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 ARR 持续提升，公司的资本市场叙事会更偏 SaaS 与平台型安全企业。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32688" y="57972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我的判断：前景取决于公司能否把模式识别升级成更高阶的系统能力。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Facephi：主要风险与挑战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分析风险会让判断更立体，也更像一份真正的研究报告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身份认证属于高合规行业，任何误判或合规事件都可能产生放大影响。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91072" y="215798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市场规模虽稳，但相较通用 AI 赛道更窄，成长速度可能有限。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349240" cy="1737360"/>
          </a:xfrm>
          <a:prstGeom prst="roundRect">
            <a:avLst/>
          </a:prstGeom>
          <a:solidFill>
            <a:srgbClr val="FFF7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国际扩张会面临当地法规、文化和合作伙伴管理问题。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349240" cy="1737360"/>
          </a:xfrm>
          <a:prstGeom prst="roundRect">
            <a:avLst/>
          </a:prstGeom>
          <a:solidFill>
            <a:srgbClr val="FBF6F1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877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4169664"/>
            <a:ext cx="502005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大客户结构若过于集中，也会影响收入稳定性。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Facephi：我的启发与小结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课程作业的最后一步，是把资料整理成自己的判断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4069080"/>
          </a:xfrm>
          <a:prstGeom prst="roundRect">
            <a:avLst/>
          </a:prstGeom>
          <a:solidFill>
            <a:srgbClr val="FFFBF8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00584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Facephi 给我的启发是：模式识别最有价值的时候，往往不是“看得见”，而是“能被信任”。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身份验证和反欺诈场景天然愿意为精度、鲁棒性与合规买单。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相比追逐大而全的 AI 平台，聚焦一个强刚需环节，有时更容易做出高质量业务。</a:t>
            </a:r>
            <a:endParaRPr lang="en-US" sz="15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这家公司说明，小而专的模式识别企业也能建立全球化竞争力。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小结：这家公司最值得学的，是它如何把识别能力变成长期价值。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资料来源：来源：Facephi 2024 Audited Financial Results（2025）及官网公开资料。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0F7B83"/>
          </a:solidFill>
          <a:ln w="12700">
            <a:solidFill>
              <a:srgbClr val="0F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 1：五家公司分别代表哪种模式识别路线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同是模式识别，底层模态不同，商业逻辑也完全不同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一句话判断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SenseTime：视觉识别 -&gt; 多模态 -&gt; AI 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iFLYTEK：语音识别 -&gt; 行业平台 -&gt; 中文大模型。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Cognex：工业视觉 -&gt; 高可靠硬件/软件 -&gt; 制造基础设施。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AI：语音识别 -&gt; 会话理解 -&gt; 任务型 agent。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Facephi：生物识别 -&gt; 身份验证 -&gt; 安全与合规平台。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商汤最像“识别资产再平台化”。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讯飞最像“识别能力行业化”。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 最像“识别能力工业化”。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最像“识别能力 agent 化”。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 最像“识别能力安全化”。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 2：产品与交付方式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决定公司天花板的，不只是算法，而是客户到底买什么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客户购买对象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商业含义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SenseTime：基础设施、模型服务与行业方案。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iFLYTEK：平台能力、行业解决方案、终端产品。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Cognex：工业设备、软件、系统可靠性。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AI：语音平台、垂直 AI 代理与白标服务。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Facephi：身份平台、认证组件与持续服务合同。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越靠近工作流，客户越难替换。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越平台化，收入的复用性越强。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越硬件化或合规化，客户验证周期越长，但粘性更高。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真正高质量的模式识别公司，往往不是只卖模型调用。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 3：技术护城河来源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五家公司的护城河并不一样，说明模式识别没有单一成功公式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主要护城河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共性规律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SenseTime：视觉数据、算力平台、行业部署与多模态迁移。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iFLYTEK：中文语音数据、行业场景、开发者生态与本地部署。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Cognex：硬件 + 软件一体化、应用工程经验、品牌与安装基础。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AI：复杂语音理解、白标模式、汽车与餐饮场景积累。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Facephi：合规、活体检测、身份流程编排与客户留存。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真正耐打的壁垒，通常是“算法 + 系统 + 场景 + 客户关系”的复合结构。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单点模型领先只能维持短期优势，平台和流程接入决定长期优势。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模式识别公司一旦深入高门槛行业，护城河会明显加厚。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因此企业战略的重点，是把技术嵌入更难替代的位置。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 4：经营成熟度与增长方式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并不是规模最大的公司就一定最有前景，也不是最小的就没有价值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成熟度判断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增长方式判断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Cognex：成熟度最高，增长较稳，利润与现金质量强。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iFLYTEK：规模大、业务广，处于“平台扩张 + 大模型再投入”阶段。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SenseTime：处于战略切换期，增长质量在改善，但仍在证明平台化能力。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AI：高成长、高波动，需要观察并购整合后的效率。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Facephi：规模较小但质量较稳，适合看作专业化平台型公司。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商汤靠新业务替换旧业务。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讯飞靠行业深耕和平台生态放大增长。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 靠工业升级与产品升级带来稳健增长。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 靠新场景与收购拉高增长斜率。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 靠 ARR 和跨行业身份场景扩展增长。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 5：长期前景谁更值得关注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“值得关注”不等于“短期最强”，而是看谁更可能跨越下一个技术周期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更值得长期观察的三类能力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能力 1：把识别做成平台，例如商汤、讯飞、Facephi。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能力 2：把识别做成基础设施，例如 Cognex。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能力 3：把识别做成业务代理，例如 SoundHound AI。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如果看确定性，Cognex 与 Facephi 的“高门槛场景”更稳。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如果看中国市场平台机会，讯飞与商汤更值得持续跟踪。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如果看新叙事与弹性，SoundHound AI 的 voice agent 值得观察。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五家公司没有简单输赢，关键在于你更看重稳健性、平台性还是成长弹性。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规律总结：模式识别公司成功的 5 个共同点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案例不同，但底层规律其实很一致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为什么这很重要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第一，必须把识别能力嵌入真实工作流，而不是停留在 demo 级展示。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第二，必须有系统化交付能力，让模型能在复杂环境中稳定工作。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第三，必须形成某种不可轻易复制的数据、客户或合规壁垒。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第四，必须找到可持续的商业模式，而不是只依赖融资叙事。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第五，必须能跨越技术代际变化，把旧能力迁移到新框架中。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因为模式识别的算法本身会越来越容易被复现。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真正难复制的是“把它长期用好”的系统。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所以未来最强的公司，不一定模型参数最大，而是组织能力最强。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这也是我做完 5 个案例后最核心的体会。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我的总体启发 1：模式识别没有过时，只是换了外壳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在多模态和 agent 时代，模式识别反而成为更底层的基础能力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我的判断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对学习的启发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大模型并没有消灭模式识别，而是在更大系统里重新组织它。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如果模型不会识别、不理解真实世界输入，就无法完成高质量生成与决策。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因此，传统识别公司并非天然落后，关键在于能否升级为平台、系统或 agent。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商汤、讯飞和 SoundHound AI 都体现了这种升级路径。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学模式识别不能只学分类器和损失函数。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还要理解数据、部署、系统、场景和商业化。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课程里的算法问题，最终都会落到真实世界的工程和组织问题上。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这也是我认为这门课很有价值的原因。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我的总体启发 2：越高价值场景，越欢迎专业模式识别公司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工业、金融安全、汽车、教育、医疗，这些地方依然需要专业玩家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我对未来的看法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因为这些场景不能轻易犯错，错误会带来安全、合规或成本后果。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专业公司往往更懂行业流程、更能适配客户需求，也更愿意承担交付责任。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通用大模型当然重要，但未必能替代所有专业系统。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这也是为什么 Cognex、Facephi 这类公司仍然很有生命力。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未来会长期并存两类公司：做通用底座的，以及做高门槛场景的。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后者未必最大，但往往更稳定、更有盈利可能。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如果让我找创业机会，我会更关注“高价值、小切口、强流程依赖”的识别场景。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因为那才是最容易形成真实壁垒的地方。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五家公司的共同结论：模式识别最有价值的时候，是它变成“系统能力”的时候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5486400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81328"/>
            <a:ext cx="5468112" cy="4663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82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一句话总结五家公司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28232" y="168249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我的最终结论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8920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SenseTime：识别资产平台化。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iFLYTEK：识别能力行业化。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Cognex：识别能力工业化。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SoundHound AI：识别能力 agent 化。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Facephi：识别能力安全化。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993392"/>
            <a:ext cx="480060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模式识别仍然是 AI 产业里最重要的底层能力之一。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真正优秀的公司，都能把“识别”嵌进高价值流程。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未来谁能同时做好技术、系统和场景，谁就更可能跨越下一轮周期。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这也是我完成这份作业后最明确的收获。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资料来源：综合自五家公司官方公开资料与本报告分析。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10896"/>
            <a:ext cx="1097280" cy="29260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566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本报告优先使用官方公开资料；为便于展示，仅列出核心来源类型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6424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SenseTime 2024 Annual Report (HKEX, published April 24,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SenseTime investor relations and official website product/news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iFLYTEK 2024 Annual Report (published June 17,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iFLYTEK official website and developer/open platform materials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Cognex investor relations annual results materials and official product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Cognex official company history and product portfolio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SoundHound AI Form 10-K for fiscal year 2024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SoundHound AI official website, product pages and leadership materials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Facephi audited financial results for fiscal year 2024 (published April 29, 2025)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Facephi official website product, investors and company overview pages</a:t>
            </a:r>
            <a:endParaRPr lang="en-US" sz="13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检索时间：截至 2026-03-29；优先采用企业官方公开资料，少量辅助检索用于校验背景信息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7395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资料来源：如需继续扩展，可在此基础上补充更多案例与图表。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018520" y="6437376"/>
            <a:ext cx="530352" cy="201168"/>
          </a:xfrm>
          <a:prstGeom prst="roundRect">
            <a:avLst/>
          </a:prstGeom>
          <a:solidFill>
            <a:srgbClr val="C28A2E"/>
          </a:solidFill>
          <a:ln w="12700">
            <a:solidFill>
              <a:srgbClr val="C2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19104" y="64739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Junhao Cheng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模式识别全球企业案例研究</dc:title>
  <dc:subject>模式识别课程作业</dc:subject>
  <dc:creator>Codex</dc:creator>
  <cp:lastModifiedBy>Codex</cp:lastModifiedBy>
  <cp:revision>1</cp:revision>
  <dcterms:created xsi:type="dcterms:W3CDTF">2026-03-29T04:27:15Z</dcterms:created>
  <dcterms:modified xsi:type="dcterms:W3CDTF">2026-03-29T04:27:15Z</dcterms:modified>
</cp:coreProperties>
</file>