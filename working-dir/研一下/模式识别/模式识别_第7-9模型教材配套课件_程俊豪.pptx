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2dfbeb253a4717" /><Relationship Type="http://schemas.openxmlformats.org/officeDocument/2006/relationships/extended-properties" Target="/docProps/app.xml" Id="R459706147bec467f" /><Relationship Type="http://schemas.openxmlformats.org/officeDocument/2006/relationships/officeDocument" Target="/ppt/presentation.xml" Id="R7efd8c624ba54a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46aa8ac32e49f4"/>
  </p:sldMasterIdLst>
  <p:notesMasterIdLst>
    <p:notesMasterId xmlns:r="http://schemas.openxmlformats.org/officeDocument/2006/relationships" r:id="R78f47aa6edab4ab8"/>
  </p:notesMasterIdLst>
  <p:sldIdLst>
    <p:sldId xmlns:r="http://schemas.openxmlformats.org/officeDocument/2006/relationships" id="256" r:id="R24cc253971f74ae6"/>
    <p:sldId xmlns:r="http://schemas.openxmlformats.org/officeDocument/2006/relationships" id="257" r:id="R4b7bf46b07b34ca4"/>
    <p:sldId xmlns:r="http://schemas.openxmlformats.org/officeDocument/2006/relationships" id="258" r:id="R548c9f553e38484e"/>
    <p:sldId xmlns:r="http://schemas.openxmlformats.org/officeDocument/2006/relationships" id="259" r:id="R10b3df07cabb4974"/>
    <p:sldId xmlns:r="http://schemas.openxmlformats.org/officeDocument/2006/relationships" id="260" r:id="R34e7dac21f354130"/>
    <p:sldId xmlns:r="http://schemas.openxmlformats.org/officeDocument/2006/relationships" id="261" r:id="R905af2bccb0043e4"/>
    <p:sldId xmlns:r="http://schemas.openxmlformats.org/officeDocument/2006/relationships" id="262" r:id="Rb7ae98795fa54bce"/>
    <p:sldId xmlns:r="http://schemas.openxmlformats.org/officeDocument/2006/relationships" id="263" r:id="Rc9bffe82fcc643ce"/>
    <p:sldId xmlns:r="http://schemas.openxmlformats.org/officeDocument/2006/relationships" id="264" r:id="Rdd1ecaa486c2437a"/>
    <p:sldId xmlns:r="http://schemas.openxmlformats.org/officeDocument/2006/relationships" id="265" r:id="Raa74a7d87eac46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f91fc0f25489c" /><Relationship Type="http://schemas.openxmlformats.org/officeDocument/2006/relationships/slideMaster" Target="/ppt/slideMasters/slideMaster1.xml" Id="Rf546aa8ac32e49f4" /><Relationship Type="http://schemas.openxmlformats.org/officeDocument/2006/relationships/notesMaster" Target="/ppt/notesMasters/notesMaster1.xml" Id="R78f47aa6edab4ab8" /><Relationship Type="http://schemas.openxmlformats.org/officeDocument/2006/relationships/presProps" Target="/ppt/presProps.xml" Id="R14dd1cd4ecd8471e" /><Relationship Type="http://schemas.openxmlformats.org/officeDocument/2006/relationships/tableStyles" Target="/ppt/tableStyles.xml" Id="R21b6463268324150" /><Relationship Type="http://schemas.openxmlformats.org/officeDocument/2006/relationships/slide" Target="/ppt/slides/slide1.xml" Id="R24cc253971f74ae6" /><Relationship Type="http://schemas.openxmlformats.org/officeDocument/2006/relationships/slide" Target="/ppt/slides/slide2.xml" Id="R4b7bf46b07b34ca4" /><Relationship Type="http://schemas.openxmlformats.org/officeDocument/2006/relationships/slide" Target="/ppt/slides/slide3.xml" Id="R548c9f553e38484e" /><Relationship Type="http://schemas.openxmlformats.org/officeDocument/2006/relationships/slide" Target="/ppt/slides/slide4.xml" Id="R10b3df07cabb4974" /><Relationship Type="http://schemas.openxmlformats.org/officeDocument/2006/relationships/slide" Target="/ppt/slides/slide5.xml" Id="R34e7dac21f354130" /><Relationship Type="http://schemas.openxmlformats.org/officeDocument/2006/relationships/slide" Target="/ppt/slides/slide6.xml" Id="R905af2bccb0043e4" /><Relationship Type="http://schemas.openxmlformats.org/officeDocument/2006/relationships/slide" Target="/ppt/slides/slide7.xml" Id="Rb7ae98795fa54bce" /><Relationship Type="http://schemas.openxmlformats.org/officeDocument/2006/relationships/slide" Target="/ppt/slides/slide8.xml" Id="Rc9bffe82fcc643ce" /><Relationship Type="http://schemas.openxmlformats.org/officeDocument/2006/relationships/slide" Target="/ppt/slides/slide9.xml" Id="Rdd1ecaa486c2437a" /><Relationship Type="http://schemas.openxmlformats.org/officeDocument/2006/relationships/slide" Target="/ppt/slides/slide10.xml" Id="Raa74a7d87eac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65e550ecba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dcf9012a1d4a11" /><Relationship Type="http://schemas.openxmlformats.org/officeDocument/2006/relationships/notesMaster" Target="/ppt/notesMasters/notesMaster1.xml" Id="R222979344b3a4a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574d283df4493d" /><Relationship Type="http://schemas.openxmlformats.org/officeDocument/2006/relationships/notesMaster" Target="/ppt/notesMasters/notesMaster1.xml" Id="R3fdcc1053aa64b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f22ff9477249c6" /><Relationship Type="http://schemas.openxmlformats.org/officeDocument/2006/relationships/notesMaster" Target="/ppt/notesMasters/notesMaster1.xml" Id="R4396422a4b0141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6d2a82b91b4eca" /><Relationship Type="http://schemas.openxmlformats.org/officeDocument/2006/relationships/notesMaster" Target="/ppt/notesMasters/notesMaster1.xml" Id="Rbf7596d753fe49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6fab3291b1433a" /><Relationship Type="http://schemas.openxmlformats.org/officeDocument/2006/relationships/notesMaster" Target="/ppt/notesMasters/notesMaster1.xml" Id="R4c7d008266c24a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5ae7852a5844d8" /><Relationship Type="http://schemas.openxmlformats.org/officeDocument/2006/relationships/notesMaster" Target="/ppt/notesMasters/notesMaster1.xml" Id="R1f2964ffaf0b40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e536512f1b476d" /><Relationship Type="http://schemas.openxmlformats.org/officeDocument/2006/relationships/notesMaster" Target="/ppt/notesMasters/notesMaster1.xml" Id="Rca75617b71b04a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ffca4a559c4707" /><Relationship Type="http://schemas.openxmlformats.org/officeDocument/2006/relationships/notesMaster" Target="/ppt/notesMasters/notesMaster1.xml" Id="Red86aa7ab61940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74c74c21d74a31" /><Relationship Type="http://schemas.openxmlformats.org/officeDocument/2006/relationships/notesMaster" Target="/ppt/notesMasters/notesMaster1.xml" Id="R4ec2131a80ae48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f0db5aa9084574" /><Relationship Type="http://schemas.openxmlformats.org/officeDocument/2006/relationships/notesMaster" Target="/ppt/notesMasters/notesMaster1.xml" Id="R93fe9981c15747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98b77b0a240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eeec7ffdec4638" /><Relationship Type="http://schemas.openxmlformats.org/officeDocument/2006/relationships/slideLayout" Target="/ppt/slideLayouts/slideLayout1.xml" Id="R750b3fce69ea48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b3fce69ea48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9f05f0ae443d6" /><Relationship Type="http://schemas.openxmlformats.org/officeDocument/2006/relationships/image" Target="/ppt/media/image.png" Id="R1cdc880a9e08479b" /><Relationship Type="http://schemas.openxmlformats.org/officeDocument/2006/relationships/notesSlide" Target="/ppt/notesSlides/notesSlide1.xml" Id="Rbea05f385fd44d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d6d17c7394e24" /><Relationship Type="http://schemas.openxmlformats.org/officeDocument/2006/relationships/notesSlide" Target="/ppt/notesSlides/notesSlide2.xml" Id="R40272a0145e248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384fa1022462b" /><Relationship Type="http://schemas.openxmlformats.org/officeDocument/2006/relationships/image" Target="/ppt/media/image2.png" Id="Ra78c8222f5e84d71" /><Relationship Type="http://schemas.openxmlformats.org/officeDocument/2006/relationships/notesSlide" Target="/ppt/notesSlides/notesSlide3.xml" Id="R4a626e96660c4a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1e86b83024f6f" /><Relationship Type="http://schemas.openxmlformats.org/officeDocument/2006/relationships/notesSlide" Target="/ppt/notesSlides/notesSlide4.xml" Id="Rb86a8817d7a648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d478eb73c4c8e" /><Relationship Type="http://schemas.openxmlformats.org/officeDocument/2006/relationships/image" Target="/ppt/media/image3.png" Id="R6717715af39f4875" /><Relationship Type="http://schemas.openxmlformats.org/officeDocument/2006/relationships/notesSlide" Target="/ppt/notesSlides/notesSlide5.xml" Id="Raf10e8cebd2747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6bdb377334677" /><Relationship Type="http://schemas.openxmlformats.org/officeDocument/2006/relationships/notesSlide" Target="/ppt/notesSlides/notesSlide6.xml" Id="R4f4caab9aca54c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c8db1eafe419e" /><Relationship Type="http://schemas.openxmlformats.org/officeDocument/2006/relationships/image" Target="/ppt/media/image4.png" Id="Rc4b83d18a30b4bed" /><Relationship Type="http://schemas.openxmlformats.org/officeDocument/2006/relationships/notesSlide" Target="/ppt/notesSlides/notesSlide7.xml" Id="R4e9516b44f224e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6c1b9d12a4b23" /><Relationship Type="http://schemas.openxmlformats.org/officeDocument/2006/relationships/notesSlide" Target="/ppt/notesSlides/notesSlide8.xml" Id="R65e85a1d3dda4e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e6d3a376a4c0b" /><Relationship Type="http://schemas.openxmlformats.org/officeDocument/2006/relationships/notesSlide" Target="/ppt/notesSlides/notesSlide9.xml" Id="R055d58679c1c40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4f655ab29418c" /><Relationship Type="http://schemas.openxmlformats.org/officeDocument/2006/relationships/notesSlide" Target="/ppt/notesSlides/notesSlide10.xml" Id="R7aaecb46fc744c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41F9DF-E2DC-4FCA-8C79-4D226F18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545"/>
                </a:solidFill>
              </a:defRPr>
            </a:pPr>
            <a:r>
              <a:rPr sz="3900" b="1">
                <a:solidFill>
                  <a:srgbClr val="0B2545"/>
                </a:solidFill>
              </a:rPr>
              <a:t>模式识别经典模型教材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AC01D-8712-40BF-8584-EC82BD53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F80ED"/>
                </a:solidFill>
              </a:defRPr>
            </a:pPr>
            <a:r>
              <a:rPr sz="2100" b="0">
                <a:solidFill>
                  <a:srgbClr val="2F80ED"/>
                </a:solidFill>
              </a:rPr>
              <a:t>第 7-9 项：感知机、GMM、HMM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BB9C7-9190-4911-9966-AF12C8A4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F7A"/>
                </a:solidFill>
              </a:defRPr>
            </a:pPr>
            <a:r>
              <a:rPr sz="1500" b="0">
                <a:solidFill>
                  <a:srgbClr val="5F6F7A"/>
                </a:solidFill>
              </a:rPr>
              <a:t>配套课件 | 程俊豪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c880a9e08479b"/>
          <a:stretch xmlns:a="http://schemas.openxmlformats.org/drawingml/2006/main"/>
        </p:blipFill>
        <p:spPr>
          <a:xfrm xmlns:a="http://schemas.openxmlformats.org/drawingml/2006/main">
            <a:off x="4953000" y="2387203"/>
            <a:ext cx="5905500" cy="3321844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7FF89-C7A7-41A9-867F-C3E2389C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3238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C6DC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9B8AE-2E71-4EA8-B088-6DFC4D1C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学习方式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4A14A-0F0D-41A8-B125-0B4CCC47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7313A"/>
                </a:solidFill>
              </a:defRPr>
            </a:pPr>
            <a:r>
              <a:rPr sz="1350" b="0">
                <a:solidFill>
                  <a:srgbClr val="27313A"/>
                </a:solidFill>
              </a:rPr>
              <a:t>先讲生活故事，再看机器怎么照着故事计算。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79637-6E2E-4FBD-A5D9-3C24985D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8A3"/>
                </a:solidFill>
              </a:defRPr>
            </a:pPr>
            <a:r>
              <a:rPr sz="975" b="0">
                <a:solidFill>
                  <a:srgbClr val="8A98A3"/>
                </a:solidFill>
              </a:rPr>
              <a:t>模式识别教材小册子 | 第7-9项 | 1</a:t>
            </a:r>
          </a:p>
        </p:txBody>
      </p:sp>
    </p:spTree>
    <p:extLst>
      <p:ext uri="{BB962C8B-B14F-4D97-AF65-F5344CB8AC3E}">
        <p14:creationId xmlns:p14="http://schemas.microsoft.com/office/powerpoint/2010/main" val="512046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07BBFD-8EFC-4A8C-BEE1-88BC2AA7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本节课的学习目标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C4BD6-8A53-4691-8BDF-310F1A57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三个模型分别对应边界、概率混合与序列状态三种经典思路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ECC0F-8F14-406B-A0E7-FB3AB68C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94B41-B590-4866-8A09-DE80AD9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2762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7E9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AB737-4ACC-4152-AD04-ADCE0E10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38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感知机：尺子分水果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ED66E-0955-49A8-96CE-2D4FFF9F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2762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90BD2-0D6D-46C3-A99F-69A27620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38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GMM：猜糖果来源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D58C4-4AD9-4016-A4EE-303F4EBF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95500"/>
            <a:ext cx="2762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63735-39C7-4074-B51F-FEE1429E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383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HMM：看脚印猜路线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A8B5C-EF83-41EC-AE90-FA352122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完成本课后，应能回答：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97950-4BB8-42CD-89FE-6D654263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942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7313A"/>
                </a:solidFill>
              </a:defRPr>
            </a:pPr>
            <a:r>
              <a:rPr sz="1800" b="0">
                <a:solidFill>
                  <a:srgbClr val="27313A"/>
                </a:solidFill>
              </a:rPr>
              <a:t>1. 为什么一把直尺只能画直线边界？</a:t>
            </a:r>
          </a:p>
          <a:p xmlns:a="http://schemas.openxmlformats.org/drawingml/2006/main">
            <a:pPr algn="l">
              <a:defRPr sz="1800" b="0">
                <a:solidFill>
                  <a:srgbClr val="27313A"/>
                </a:solidFill>
              </a:defRPr>
            </a:pPr>
            <a:r>
              <a:rPr sz="1800" b="0">
                <a:solidFill>
                  <a:srgbClr val="27313A"/>
                </a:solidFill>
              </a:rPr>
              <a:t>2. 为什么一颗糖可以“有点像草莓，也有点像葡萄”？</a:t>
            </a:r>
          </a:p>
          <a:p xmlns:a="http://schemas.openxmlformats.org/drawingml/2006/main">
            <a:pPr algn="l">
              <a:defRPr sz="1800" b="0">
                <a:solidFill>
                  <a:srgbClr val="27313A"/>
                </a:solidFill>
              </a:defRPr>
            </a:pPr>
            <a:r>
              <a:rPr sz="1800" b="0">
                <a:solidFill>
                  <a:srgbClr val="27313A"/>
                </a:solidFill>
              </a:rPr>
              <a:t>3. 为什么只看脚印，也能猜一个人走过哪里？</a:t>
            </a:r>
          </a:p>
          <a:p xmlns:a="http://schemas.openxmlformats.org/drawingml/2006/main">
            <a:pPr algn="l">
              <a:defRPr sz="1800" b="0">
                <a:solidFill>
                  <a:srgbClr val="27313A"/>
                </a:solidFill>
              </a:defRPr>
            </a:pPr>
            <a:r>
              <a:rPr sz="1800" b="0">
                <a:solidFill>
                  <a:srgbClr val="27313A"/>
                </a:solidFill>
              </a:rPr>
              <a:t>4. 三个故事分别对应哪种机器学习模型？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B5CF3-C501-477D-98A3-1A0DEB52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8A3"/>
                </a:solidFill>
              </a:defRPr>
            </a:pPr>
            <a:r>
              <a:rPr sz="975" b="0">
                <a:solidFill>
                  <a:srgbClr val="8A98A3"/>
                </a:solidFill>
              </a:rPr>
              <a:t>模式识别教材小册子 | 第7-9项 | 2</a:t>
            </a:r>
          </a:p>
        </p:txBody>
      </p:sp>
    </p:spTree>
    <p:extLst>
      <p:ext uri="{BB962C8B-B14F-4D97-AF65-F5344CB8AC3E}">
        <p14:creationId xmlns:p14="http://schemas.microsoft.com/office/powerpoint/2010/main" val="572727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3FED6-CB79-4B17-9276-67CF64E1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感知机：用错误样本推动边界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82B02-1F13-46ED-A374-F7813703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关键词：线性二分类、在线学习、权重更新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D9771-21E7-49F9-B2FC-C1069550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c8222f5e84d71"/>
          <a:stretch xmlns:a="http://schemas.openxmlformats.org/drawingml/2006/main"/>
        </p:blipFill>
        <p:spPr>
          <a:xfrm xmlns:a="http://schemas.openxmlformats.org/drawingml/2006/main">
            <a:off x="669925" y="1695450"/>
            <a:ext cx="5384800" cy="3028950"/>
          </a:xfrm>
          <a:prstGeom xmlns:a="http://schemas.openxmlformats.org/drawingml/2006/main" prst="roundRect">
            <a:avLst>
              <a:gd name="adj" fmla="val 251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74031-E43C-40D0-B31B-855BB99C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生活故事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1813C-1AAB-4BD6-BF44-DDB1F840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171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桌上有苹果和橘子。小老师拿尺子画线：线左边算苹果，右边算橘子。分错了，就把尺子挪一点。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A05AC-55F0-4DFE-B25D-BCC9D388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41719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5AD69-88F9-4D91-B14F-A9691A56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D78"/>
                </a:solidFill>
              </a:defRPr>
            </a:pPr>
            <a:r>
              <a:rPr sz="1800" b="1">
                <a:solidFill>
                  <a:srgbClr val="1F4D78"/>
                </a:solidFill>
              </a:rPr>
              <a:t>机器做法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1DA27-D0D3-4096-8315-ECE2481A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7670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s = wᵀx + b</a:t>
            </a:r>
          </a:p>
          <a:p xmlns:a="http://schemas.openxmlformats.org/drawingml/2006/main">
            <a:pPr algn="l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f(x) = sign(s)</a:t>
            </a:r>
          </a:p>
          <a:p xmlns:a="http://schemas.openxmlformats.org/drawingml/2006/main">
            <a:pPr algn="l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w ← w + η yᵢxᵢ,  b ← b + η yᵢ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07A54-48FC-4F7A-A4E3-9B8C4BA3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8A3"/>
                </a:solidFill>
              </a:defRPr>
            </a:pPr>
            <a:r>
              <a:rPr sz="975" b="0">
                <a:solidFill>
                  <a:srgbClr val="8A98A3"/>
                </a:solidFill>
              </a:rPr>
              <a:t>模式识别教材小册子 | 第7-9项 | 3</a:t>
            </a:r>
          </a:p>
        </p:txBody>
      </p:sp>
    </p:spTree>
    <p:extLst>
      <p:ext uri="{BB962C8B-B14F-4D97-AF65-F5344CB8AC3E}">
        <p14:creationId xmlns:p14="http://schemas.microsoft.com/office/powerpoint/2010/main" val="838561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B0499A-FECC-472D-86A1-FE07FAEE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感知机：例题与实验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9BF1E-799F-4C35-827C-7639F98D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小老师分错了，就把尺子往正确方向挪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AD687-D942-4E96-B54A-95E6F926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A13F8A-A162-4081-9DA5-3B4E5572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762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3BF"/>
          </a:solidFill>
          <a:ln xmlns:a="http://schemas.openxmlformats.org/drawingml/2006/main" w="9525">
            <a:solidFill>
              <a:srgbClr val="F2C94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35344-2CBB-4CAA-8DDE-A998CDDC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A5A00"/>
                </a:solidFill>
              </a:defRPr>
            </a:pPr>
            <a:r>
              <a:rPr sz="2100" b="1">
                <a:solidFill>
                  <a:srgbClr val="7A5A00"/>
                </a:solidFill>
              </a:rPr>
              <a:t>例题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65705-5797-4856-9449-9273CA9D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4191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小老师一开始完全不会分：</a:t>
            </a:r>
          </a:p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w=(0,0)，b=0，η=1。</a:t>
            </a:r>
          </a:p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来了一颗“苹果” x=(2,1)，分错了。</a:t>
            </a:r>
          </a:p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更新后：w=(2,1)，b=1。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BC91F-FD51-4697-A488-77AEDB2A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C6DC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F638F-4020-4172-8FED-E597CD4A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课堂/课后实验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471CF-B52E-404A-955C-E2F5EB6D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4038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7313A"/>
                </a:solidFill>
              </a:defRPr>
            </a:pPr>
            <a:r>
              <a:rPr sz="1800" b="0">
                <a:solidFill>
                  <a:srgbClr val="27313A"/>
                </a:solidFill>
              </a:rPr>
              <a:t>在纸上画两堆点，拿一条线分开它们。每分错一个点，就把线挪一挪。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F9862-7D00-426D-9778-49E3B728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00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F7A"/>
                </a:solidFill>
              </a:defRPr>
            </a:pPr>
            <a:r>
              <a:rPr sz="1575" b="0">
                <a:solidFill>
                  <a:srgbClr val="5F6F7A"/>
                </a:solidFill>
              </a:rPr>
              <a:t>观察指标：错误数、边界位置、是否收敛。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E26A4-538E-4479-9AF7-7FC2D7BC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8A3"/>
                </a:solidFill>
              </a:defRPr>
            </a:pPr>
            <a:r>
              <a:rPr sz="975" b="0">
                <a:solidFill>
                  <a:srgbClr val="8A98A3"/>
                </a:solidFill>
              </a:rPr>
              <a:t>模式识别教材小册子 | 第7-9项 | 4</a:t>
            </a:r>
          </a:p>
        </p:txBody>
      </p:sp>
    </p:spTree>
    <p:extLst>
      <p:ext uri="{BB962C8B-B14F-4D97-AF65-F5344CB8AC3E}">
        <p14:creationId xmlns:p14="http://schemas.microsoft.com/office/powerpoint/2010/main" val="303173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D9A1A2-2155-4881-82DA-1982CC3B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GMM：用多个概率团块解释数据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EC16C-348C-4732-A00D-21F4FF49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关键词：软聚类、密度估计、EM 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FBDCC-F892-4539-A6E1-FAE1AEB8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7715af39f4875"/>
          <a:stretch xmlns:a="http://schemas.openxmlformats.org/drawingml/2006/main"/>
        </p:blipFill>
        <p:spPr>
          <a:xfrm xmlns:a="http://schemas.openxmlformats.org/drawingml/2006/main">
            <a:off x="666750" y="1678781"/>
            <a:ext cx="5410200" cy="3043238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833E4-85B6-412A-BD8B-011DAF0E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生活故事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97248-117C-4432-8BFD-5F278E7A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171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一袋糖果混在一起，可能来自草莓、葡萄、柠檬三台机器。GMM 要猜每颗糖更像哪台机器做的。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58FC9-E47A-490B-AFE0-5161155A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171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C8259-0BB0-4BDA-B47C-6262D51D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481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78"/>
                </a:solidFill>
              </a:defRPr>
            </a:pPr>
            <a:r>
              <a:rPr sz="1875" b="1">
                <a:solidFill>
                  <a:srgbClr val="1F4D78"/>
                </a:solidFill>
              </a:rPr>
              <a:t>p(x) = Σ πₖ N(x | μₖ, Σₖ)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7C3FE-9268-4660-92B5-4B7269EF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05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F7A"/>
                </a:solidFill>
              </a:defRPr>
            </a:pPr>
            <a:r>
              <a:rPr sz="1500" b="0">
                <a:solidFill>
                  <a:srgbClr val="5F6F7A"/>
                </a:solidFill>
              </a:rPr>
              <a:t>每个高斯成分就像一台糖果机器。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28BF0-8B69-4832-98DB-4305C55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8A3"/>
                </a:solidFill>
              </a:defRPr>
            </a:pPr>
            <a:r>
              <a:rPr sz="975" b="0">
                <a:solidFill>
                  <a:srgbClr val="8A98A3"/>
                </a:solidFill>
              </a:rPr>
              <a:t>模式识别教材小册子 | 第7-9项 | 5</a:t>
            </a:r>
          </a:p>
        </p:txBody>
      </p:sp>
    </p:spTree>
    <p:extLst>
      <p:ext uri="{BB962C8B-B14F-4D97-AF65-F5344CB8AC3E}">
        <p14:creationId xmlns:p14="http://schemas.microsoft.com/office/powerpoint/2010/main" val="1883137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C1F8A5-FF0E-4928-BE5A-64C490A2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GMM：EM 算法与实验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A227D-E20B-44FC-A966-188952E9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先猜糖果来源，再调整每台机器的样子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E29B1-930D-4E96-966C-C82A0C45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13BC0-7796-441C-8F9D-3173202F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4000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2F9E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54364-26E3-4ECE-BEC1-58607DB4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8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4D78"/>
                </a:solidFill>
              </a:defRPr>
            </a:pPr>
            <a:r>
              <a:rPr sz="2250" b="1">
                <a:solidFill>
                  <a:srgbClr val="1F4D78"/>
                </a:solidFill>
              </a:rPr>
              <a:t>E 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B120A-47D7-411F-9571-4A33FC30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241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先猜：这颗糖有多像草莓机器？有多像葡萄机器？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FB83A-E9A2-4040-83E3-D6DA1187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4000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7E9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CCDE2-25E0-4BA2-BE5C-E3527804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288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4D78"/>
                </a:solidFill>
              </a:defRPr>
            </a:pPr>
            <a:r>
              <a:rPr sz="2250" b="1">
                <a:solidFill>
                  <a:srgbClr val="1F4D78"/>
                </a:solidFill>
              </a:rPr>
              <a:t>M 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45BD3-7611-4713-8D7B-7504C87D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再改：根据这些猜测，调整每台糖果机器的中心和范围。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E1D3B-1380-4C86-A84B-DFF209B4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05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7313A"/>
                </a:solidFill>
              </a:defRPr>
            </a:pPr>
            <a:r>
              <a:rPr sz="1875" b="0">
                <a:solidFill>
                  <a:srgbClr val="27313A"/>
                </a:solidFill>
              </a:rPr>
              <a:t>小实验：画三堆“糖果点”，比较硬分堆和软分堆；重点看夹在两堆中间的点。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63CE8-4875-4E04-A4CD-26298DA4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8A3"/>
                </a:solidFill>
              </a:defRPr>
            </a:pPr>
            <a:r>
              <a:rPr sz="975" b="0">
                <a:solidFill>
                  <a:srgbClr val="8A98A3"/>
                </a:solidFill>
              </a:rPr>
              <a:t>模式识别教材小册子 | 第7-9项 | 6</a:t>
            </a:r>
          </a:p>
        </p:txBody>
      </p:sp>
    </p:spTree>
    <p:extLst>
      <p:ext uri="{BB962C8B-B14F-4D97-AF65-F5344CB8AC3E}">
        <p14:creationId xmlns:p14="http://schemas.microsoft.com/office/powerpoint/2010/main" val="1085611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7D63F-F861-4540-8834-689ECCEE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HMM：隐藏状态生成可见观测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4FFEE-AAEF-46A7-AFC3-973D7B20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关键词：序列建模、转移概率、发射概率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53591-D482-45FD-A2DF-533C386A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83d18a30b4bed"/>
          <a:stretch xmlns:a="http://schemas.openxmlformats.org/drawingml/2006/main"/>
        </p:blipFill>
        <p:spPr>
          <a:xfrm xmlns:a="http://schemas.openxmlformats.org/drawingml/2006/main">
            <a:off x="666750" y="1697831"/>
            <a:ext cx="5410200" cy="3043238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5A58A-C524-4176-B8E3-F1426DF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生活故事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8980-5A41-4176-8EF9-EE028B9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171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玩“看脚印猜路线”：我们没看到小朋友，只看到一串脚印。HMM 要猜他最可能走过哪些房间。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0BA68-C439-47CF-8DB4-21962780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1719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480F7-AF26-4BAD-957D-3EF36C3F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4D78"/>
                </a:solidFill>
              </a:defRPr>
            </a:pPr>
            <a:r>
              <a:rPr sz="1875" b="1">
                <a:solidFill>
                  <a:srgbClr val="1F4D78"/>
                </a:solidFill>
              </a:rPr>
              <a:t>三组概率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513FD-9316-41C7-946D-8A413C6D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338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7313A"/>
                </a:solidFill>
              </a:defRPr>
            </a:pPr>
            <a:r>
              <a:rPr sz="1650" b="0">
                <a:solidFill>
                  <a:srgbClr val="27313A"/>
                </a:solidFill>
              </a:rPr>
              <a:t>π：一开始在哪</a:t>
            </a:r>
          </a:p>
          <a:p xmlns:a="http://schemas.openxmlformats.org/drawingml/2006/main">
            <a:pPr algn="l">
              <a:defRPr sz="1650" b="0">
                <a:solidFill>
                  <a:srgbClr val="27313A"/>
                </a:solidFill>
              </a:defRPr>
            </a:pPr>
            <a:r>
              <a:rPr sz="1650" b="0">
                <a:solidFill>
                  <a:srgbClr val="27313A"/>
                </a:solidFill>
              </a:rPr>
              <a:t> aᵢⱼ：下一步去哪</a:t>
            </a:r>
          </a:p>
          <a:p xmlns:a="http://schemas.openxmlformats.org/drawingml/2006/main">
            <a:pPr algn="l">
              <a:defRPr sz="1650" b="0">
                <a:solidFill>
                  <a:srgbClr val="27313A"/>
                </a:solidFill>
              </a:defRPr>
            </a:pPr>
            <a:r>
              <a:rPr sz="1650" b="0">
                <a:solidFill>
                  <a:srgbClr val="27313A"/>
                </a:solidFill>
              </a:rPr>
              <a:t> bⱼ(o)：房间会留下什么脚印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28274-79A5-4004-83A0-DADAD0A3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8A3"/>
                </a:solidFill>
              </a:defRPr>
            </a:pPr>
            <a:r>
              <a:rPr sz="975" b="0">
                <a:solidFill>
                  <a:srgbClr val="8A98A3"/>
                </a:solidFill>
              </a:rPr>
              <a:t>模式识别教材小册子 | 第7-9项 | 7</a:t>
            </a:r>
          </a:p>
        </p:txBody>
      </p:sp>
    </p:spTree>
    <p:extLst>
      <p:ext uri="{BB962C8B-B14F-4D97-AF65-F5344CB8AC3E}">
        <p14:creationId xmlns:p14="http://schemas.microsoft.com/office/powerpoint/2010/main" val="763665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BE855F-27E1-4D2B-BD64-F1C3AA9A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HMM：三个经典问题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A9517-108F-44B5-AD35-8F959A55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把算法名翻译成小朋友能懂的问题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443A2-354E-4842-8D85-536819FB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728B5-E08B-46DB-A36A-5A1BAF0E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FE42D-9519-4B17-BFD2-8002475A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38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评估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36310-AB40-4062-8BA5-41B38994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478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7313A"/>
                </a:solidFill>
              </a:defRPr>
            </a:pPr>
            <a:r>
              <a:rPr sz="1875" b="0">
                <a:solidFill>
                  <a:srgbClr val="27313A"/>
                </a:solidFill>
              </a:rPr>
              <a:t>这串脚印出现的可能性多大？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47462-CAF8-48EC-B86F-F00510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D78"/>
                </a:solidFill>
              </a:defRPr>
            </a:pPr>
            <a:r>
              <a:rPr sz="1800" b="1">
                <a:solidFill>
                  <a:srgbClr val="1F4D78"/>
                </a:solidFill>
              </a:rPr>
              <a:t>前向算法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F6881-2651-4387-B9E5-B7AD1A63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009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7E9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F065A-66B1-4DDF-9D5B-B2495EB7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00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解码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76D8B-55E9-414A-9F63-27200C3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992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7313A"/>
                </a:solidFill>
              </a:defRPr>
            </a:pPr>
            <a:r>
              <a:rPr sz="1875" b="0">
                <a:solidFill>
                  <a:srgbClr val="27313A"/>
                </a:solidFill>
              </a:rPr>
              <a:t>最可能走过哪几个房间？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92B98-B7E2-4FD4-961D-F3FF616E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99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D78"/>
                </a:solidFill>
              </a:defRPr>
            </a:pPr>
            <a:r>
              <a:rPr sz="1800" b="1">
                <a:solidFill>
                  <a:srgbClr val="1F4D78"/>
                </a:solidFill>
              </a:rPr>
              <a:t>Viterbi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995CD-C2D0-4872-9F3B-BB5E4DFB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33850"/>
            <a:ext cx="1009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A2D770-EA15-4498-A04F-445F55A2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545"/>
                </a:solidFill>
              </a:defRPr>
            </a:pPr>
            <a:r>
              <a:rPr sz="2100" b="1">
                <a:solidFill>
                  <a:srgbClr val="0B2545"/>
                </a:solidFill>
              </a:rPr>
              <a:t>学习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75994-90F0-4C7E-84E9-EFF1310C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7197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7313A"/>
                </a:solidFill>
              </a:defRPr>
            </a:pPr>
            <a:r>
              <a:rPr sz="1875" b="0">
                <a:solidFill>
                  <a:srgbClr val="27313A"/>
                </a:solidFill>
              </a:rPr>
              <a:t>不知道规则时，怎么反推规则？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CBECE-3482-495B-B164-1F65E1AA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719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4D78"/>
                </a:solidFill>
              </a:defRPr>
            </a:pPr>
            <a:r>
              <a:rPr sz="1800" b="1">
                <a:solidFill>
                  <a:srgbClr val="1F4D78"/>
                </a:solidFill>
              </a:rPr>
              <a:t>Baum-Welch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80989-B526-4BA6-AB66-C23EA3A9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8A3"/>
                </a:solidFill>
              </a:defRPr>
            </a:pPr>
            <a:r>
              <a:rPr sz="975" b="0">
                <a:solidFill>
                  <a:srgbClr val="8A98A3"/>
                </a:solidFill>
              </a:rPr>
              <a:t>模式识别教材小册子 | 第7-9项 | 8</a:t>
            </a:r>
          </a:p>
        </p:txBody>
      </p:sp>
    </p:spTree>
    <p:extLst>
      <p:ext uri="{BB962C8B-B14F-4D97-AF65-F5344CB8AC3E}">
        <p14:creationId xmlns:p14="http://schemas.microsoft.com/office/powerpoint/2010/main" val="2031434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18181E-80A7-4CC0-AD93-583A429B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三种思想放在一起看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9B21E2-35AF-400E-8572-A977B7F4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边界、概率混合、序列状态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CB30F-2A95-43A2-902C-8FABA827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6CB64B-2216-4D8F-BC87-6EC9D0EC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57375"/>
            <a:ext cx="30289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7E9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59C53-A492-4848-9C25-1AD3EBA4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感知机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F6694-A6F6-47E8-869E-C75C1107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判别式线性分类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25DDA-AE45-459F-837F-200018C7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3718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分错就修正边界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454B0-EF68-49E4-B294-935533E3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9575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局限：只能表达线性边界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6EA57-D3EB-4EEB-81D6-BD0D1CB3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57375"/>
            <a:ext cx="30289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DF4E8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EEA0A-325E-46EF-8022-491B3211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133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GMM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7EA33-0B71-4DE0-BD10-00FA5192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00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生成式概率模型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D6ED3-9FD9-4704-AF70-4D04EF5F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718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多个概率团块混合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6AF33-C756-4B03-AB35-2D010233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9575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局限：需指定 K，对初始化敏感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274EF-ED43-4CC5-A5AA-AC87D0F2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57375"/>
            <a:ext cx="30289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0ED73-3A93-4736-876A-03BF71BA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33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HMM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D88A9-FC1F-4440-BD6F-95DFB5F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0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D78"/>
                </a:solidFill>
              </a:defRPr>
            </a:pPr>
            <a:r>
              <a:rPr sz="1650" b="1">
                <a:solidFill>
                  <a:srgbClr val="1F4D78"/>
                </a:solidFill>
              </a:rPr>
              <a:t>序列概率模型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8084E-35A9-4031-90D6-B0CA504E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71850"/>
            <a:ext cx="2362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隐藏状态生成观测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C318D-E1A6-4869-9C7C-77183C21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09575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局限：长期依赖表达能力弱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D5932-C5F9-4705-9813-B45CC3CC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545"/>
                </a:solidFill>
              </a:defRPr>
            </a:pPr>
            <a:r>
              <a:rPr sz="1875" b="1">
                <a:solidFill>
                  <a:srgbClr val="0B2545"/>
                </a:solidFill>
              </a:rPr>
              <a:t>记住三个故事：尺子分水果、猜糖果来源、看脚印猜路线。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ACBCE-D873-4CB6-AAFE-0FCBDF17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8A3"/>
                </a:solidFill>
              </a:defRPr>
            </a:pPr>
            <a:r>
              <a:rPr sz="975" b="0">
                <a:solidFill>
                  <a:srgbClr val="8A98A3"/>
                </a:solidFill>
              </a:rPr>
              <a:t>模式识别教材小册子 | 第7-9项 | 9</a:t>
            </a:r>
          </a:p>
        </p:txBody>
      </p:sp>
    </p:spTree>
    <p:extLst>
      <p:ext uri="{BB962C8B-B14F-4D97-AF65-F5344CB8AC3E}">
        <p14:creationId xmlns:p14="http://schemas.microsoft.com/office/powerpoint/2010/main" val="1511942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EC4F4C-CBF5-4A46-B8DD-98EC67AB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545"/>
                </a:solidFill>
              </a:defRPr>
            </a:pPr>
            <a:r>
              <a:rPr sz="2700" b="1">
                <a:solidFill>
                  <a:srgbClr val="0B2545"/>
                </a:solidFill>
              </a:rPr>
              <a:t>综合复习与参考资料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A92E7-63B1-4553-B5AA-01C92A30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81075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A"/>
                </a:solidFill>
              </a:defRPr>
            </a:pPr>
            <a:r>
              <a:rPr sz="1350" b="0">
                <a:solidFill>
                  <a:srgbClr val="5F6F7A"/>
                </a:solidFill>
              </a:rPr>
              <a:t>把公式和具体问题对应起来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C9247-D324-43C5-8479-BAD8527C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0E3B7-2769-4359-98B4-9B58C993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复习题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23EE8-36BD-40BA-AB86-1EBA212F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5334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1. 为什么感知机不能解决 XOR？</a:t>
            </a:r>
          </a:p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2. GMM 的软归属比硬聚类多提供了什么？</a:t>
            </a:r>
          </a:p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3. HMM 中隐藏状态和观测有什么区别？</a:t>
            </a:r>
          </a:p>
          <a:p xmlns:a="http://schemas.openxmlformats.org/drawingml/2006/main">
            <a:pPr algn="l">
              <a:defRPr sz="1725" b="0">
                <a:solidFill>
                  <a:srgbClr val="27313A"/>
                </a:solidFill>
              </a:defRPr>
            </a:pPr>
            <a:r>
              <a:rPr sz="1725" b="0">
                <a:solidFill>
                  <a:srgbClr val="27313A"/>
                </a:solidFill>
              </a:rPr>
              <a:t>4. 三个模型分别适合哪类任务？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50619-26DD-40B9-8D0E-1D888856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参考资料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E047B-9600-4F15-8CF2-22214ED3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43150"/>
            <a:ext cx="4286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Duda, Hart &amp; Stork, Pattern Classification</a:t>
            </a:r>
          </a:p>
          <a:p xmlns:a="http://schemas.openxmlformats.org/drawingml/2006/main">
            <a:pPr algn="l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Bishop, Pattern Recognition and Machine Learning</a:t>
            </a:r>
          </a:p>
          <a:p xmlns:a="http://schemas.openxmlformats.org/drawingml/2006/main">
            <a:pPr algn="l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Mitchell, Machine Learning</a:t>
            </a:r>
          </a:p>
          <a:p xmlns:a="http://schemas.openxmlformats.org/drawingml/2006/main">
            <a:pPr algn="l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Rabiner, Hidden Markov Models tutorial</a:t>
            </a:r>
          </a:p>
          <a:p xmlns:a="http://schemas.openxmlformats.org/drawingml/2006/main">
            <a:pPr algn="l">
              <a:defRPr sz="1575" b="0">
                <a:solidFill>
                  <a:srgbClr val="27313A"/>
                </a:solidFill>
              </a:defRPr>
            </a:pPr>
            <a:r>
              <a:rPr sz="1575" b="0">
                <a:solidFill>
                  <a:srgbClr val="27313A"/>
                </a:solidFill>
              </a:rPr>
              <a:t>scikit-learn User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2E287-D35A-4555-BB72-1E0DCBBC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10150"/>
            <a:ext cx="8953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3FE26-5341-4032-95F3-8F97AF5A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19700"/>
            <a:ext cx="828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F4D78"/>
                </a:solidFill>
              </a:defRPr>
            </a:pPr>
            <a:r>
              <a:rPr sz="1725" b="1">
                <a:solidFill>
                  <a:srgbClr val="1F4D78"/>
                </a:solidFill>
              </a:rPr>
              <a:t>学习建议：不要只背公式，要能说清公式背后的“边界、混合、状态”三种问题。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C04BD-FA0D-4D44-9070-188034F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8A3"/>
                </a:solidFill>
              </a:defRPr>
            </a:pPr>
            <a:r>
              <a:rPr sz="975" b="0">
                <a:solidFill>
                  <a:srgbClr val="8A98A3"/>
                </a:solidFill>
              </a:rPr>
              <a:t>模式识别教材小册子 | 第7-9项 | 10</a:t>
            </a:r>
          </a:p>
        </p:txBody>
      </p:sp>
    </p:spTree>
    <p:extLst>
      <p:ext uri="{BB962C8B-B14F-4D97-AF65-F5344CB8AC3E}">
        <p14:creationId xmlns:p14="http://schemas.microsoft.com/office/powerpoint/2010/main" val="1098633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2026-06-22T06:13:28.4640000Z</dcterms:created>
  <dcterms:modified xsi:type="dcterms:W3CDTF">2026-06-22T06:13:28.4640000Z</dcterms:modified>
</coreProperties>
</file>